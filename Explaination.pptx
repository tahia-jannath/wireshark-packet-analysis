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62" r:id="rId6"/>
    <p:sldId id="260" r:id="rId7"/>
    <p:sldId id="265" r:id="rId8"/>
    <p:sldId id="261"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DF4B-D1E5-F2AC-1D74-DE81ECB088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711C72-543B-4FC5-301C-1A5E5864FE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8EB519-62F8-2C8E-BC4D-9E358029CB39}"/>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5" name="Footer Placeholder 4">
            <a:extLst>
              <a:ext uri="{FF2B5EF4-FFF2-40B4-BE49-F238E27FC236}">
                <a16:creationId xmlns:a16="http://schemas.microsoft.com/office/drawing/2014/main" id="{276A558E-88D0-8E41-9E99-F32CE35B0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9F0875-1615-2B64-BC2F-978F35B36579}"/>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2391543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AE207-D684-77D1-6C2B-EC3141F343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A597DF-AAA0-3CEF-CE24-7EB6FE39C4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BB98B7-EBD5-2244-D306-E750EC4CD058}"/>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5" name="Footer Placeholder 4">
            <a:extLst>
              <a:ext uri="{FF2B5EF4-FFF2-40B4-BE49-F238E27FC236}">
                <a16:creationId xmlns:a16="http://schemas.microsoft.com/office/drawing/2014/main" id="{A96D253F-FE2F-C86C-7EAB-CF01F506ED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24958-2F01-13ED-E074-BC862E904638}"/>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2996619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047B1-60B2-13CF-A485-2C7CDFD683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A01002-EBFC-8C72-2AA6-9EFE244768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431E2C-3FB2-5B15-E2ED-6DABC1711E59}"/>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5" name="Footer Placeholder 4">
            <a:extLst>
              <a:ext uri="{FF2B5EF4-FFF2-40B4-BE49-F238E27FC236}">
                <a16:creationId xmlns:a16="http://schemas.microsoft.com/office/drawing/2014/main" id="{3404C817-9533-5D7D-798B-7C0E349DA6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203AE1-7917-A5AC-7A00-123589A719AE}"/>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172752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F8ED6-8B04-41C8-E04F-AAB4111351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209FA9-0FDA-2EAD-4AE5-C2BE99332C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C98D80-7DDD-23B8-D707-A1B648A592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3288FA-9BC9-84CC-FFF5-7748B706A638}"/>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6" name="Footer Placeholder 5">
            <a:extLst>
              <a:ext uri="{FF2B5EF4-FFF2-40B4-BE49-F238E27FC236}">
                <a16:creationId xmlns:a16="http://schemas.microsoft.com/office/drawing/2014/main" id="{0E2D721A-BCEC-8832-B923-5180B7D1C3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8F3F58-968D-7B0D-5753-E6AF37DEF0AF}"/>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3157888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A4AD-B799-17EC-D14A-EB96CA2846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D214AA-9179-EC2A-BAF2-736603E77D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A9ECF6-5038-DDFA-DFCC-F3E0125ADD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59003D-21D6-D027-E3FF-88D2EC0270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7D977D-DB66-9852-6BA2-CAB369EAD6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C0055B-13B0-D11E-667D-0545A05AFAEE}"/>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8" name="Footer Placeholder 7">
            <a:extLst>
              <a:ext uri="{FF2B5EF4-FFF2-40B4-BE49-F238E27FC236}">
                <a16:creationId xmlns:a16="http://schemas.microsoft.com/office/drawing/2014/main" id="{D5BDA83F-BF20-F559-9141-16664BF2F6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D6059E-1F7B-BB02-08DB-F83F3D11E920}"/>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327358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22573-1BB1-47CD-5117-1D8A4128EF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A1BA83-C654-EC1C-DB1B-6C3C397268A4}"/>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4" name="Footer Placeholder 3">
            <a:extLst>
              <a:ext uri="{FF2B5EF4-FFF2-40B4-BE49-F238E27FC236}">
                <a16:creationId xmlns:a16="http://schemas.microsoft.com/office/drawing/2014/main" id="{3F1792B1-A44A-A1E0-4A61-D1AAE83EFC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A7B3CC-BA80-3B03-9A3B-E908FDE64C38}"/>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1876691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17F545-4462-1D63-3527-8E00E18FF107}"/>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3" name="Footer Placeholder 2">
            <a:extLst>
              <a:ext uri="{FF2B5EF4-FFF2-40B4-BE49-F238E27FC236}">
                <a16:creationId xmlns:a16="http://schemas.microsoft.com/office/drawing/2014/main" id="{A83E2AB8-069D-2C3A-D34E-2D94832AE7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AC77BD-E5AF-2E32-7319-0E5FCEF036D5}"/>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343837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BB499-059B-C7D0-443B-A4C42962CC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BFA860-167C-B4A6-6E59-5BD84A2F71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68B666-86E1-EF64-DE4E-1EE021206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5CCCB-59CC-D9AB-F131-A78A5F74D125}"/>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6" name="Footer Placeholder 5">
            <a:extLst>
              <a:ext uri="{FF2B5EF4-FFF2-40B4-BE49-F238E27FC236}">
                <a16:creationId xmlns:a16="http://schemas.microsoft.com/office/drawing/2014/main" id="{528E130B-7594-3D6B-826F-0C6CCE92C0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F93940-A37B-5950-93BB-2C0ACCFCAAE8}"/>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2373807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6E298-AF61-5FF6-1A26-8002240E56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68455F-DD6E-461D-2B59-98E70926E4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221AA3-6936-4E3E-5712-D5D9405D6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10F5F0-68CA-21CE-221F-060AF9925B69}"/>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6" name="Footer Placeholder 5">
            <a:extLst>
              <a:ext uri="{FF2B5EF4-FFF2-40B4-BE49-F238E27FC236}">
                <a16:creationId xmlns:a16="http://schemas.microsoft.com/office/drawing/2014/main" id="{6A16ACC9-AAA4-9387-5F0D-434B04A093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404354-E26B-857C-61FF-4E03F1D81614}"/>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2045337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A3B6-95F6-847C-49C0-9171C8983F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62F61A-7A24-89F6-1278-635CECF9E5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E32F72-C6C2-7B56-9CB1-F0966689632D}"/>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5" name="Footer Placeholder 4">
            <a:extLst>
              <a:ext uri="{FF2B5EF4-FFF2-40B4-BE49-F238E27FC236}">
                <a16:creationId xmlns:a16="http://schemas.microsoft.com/office/drawing/2014/main" id="{44389A6B-FEA9-E350-CBBF-7D8CA0B952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A33CE-6488-08C8-0B70-28FCA4E39B27}"/>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3625951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3D703E-3BA8-0317-FA6B-C330689FA0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748B01-C70C-9712-68FE-332173BB6E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A6902-62F8-3760-CF3A-04DC75C832CF}"/>
              </a:ext>
            </a:extLst>
          </p:cNvPr>
          <p:cNvSpPr>
            <a:spLocks noGrp="1"/>
          </p:cNvSpPr>
          <p:nvPr>
            <p:ph type="dt" sz="half" idx="10"/>
          </p:nvPr>
        </p:nvSpPr>
        <p:spPr/>
        <p:txBody>
          <a:bodyPr/>
          <a:lstStyle/>
          <a:p>
            <a:fld id="{226BC3F1-8321-4782-A491-1925BD81ABC4}" type="datetimeFigureOut">
              <a:rPr lang="en-US" smtClean="0"/>
              <a:t>10/29/2023</a:t>
            </a:fld>
            <a:endParaRPr lang="en-US"/>
          </a:p>
        </p:txBody>
      </p:sp>
      <p:sp>
        <p:nvSpPr>
          <p:cNvPr id="5" name="Footer Placeholder 4">
            <a:extLst>
              <a:ext uri="{FF2B5EF4-FFF2-40B4-BE49-F238E27FC236}">
                <a16:creationId xmlns:a16="http://schemas.microsoft.com/office/drawing/2014/main" id="{48909A50-0C43-FCB6-3E1B-4D9C399B12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C1DF7-2657-2FBD-8C9E-0EC0A6841257}"/>
              </a:ext>
            </a:extLst>
          </p:cNvPr>
          <p:cNvSpPr>
            <a:spLocks noGrp="1"/>
          </p:cNvSpPr>
          <p:nvPr>
            <p:ph type="sldNum" sz="quarter" idx="12"/>
          </p:nvPr>
        </p:nvSpPr>
        <p:spPr/>
        <p:txBody>
          <a:bodyPr/>
          <a:lstStyle/>
          <a:p>
            <a:fld id="{A117CB86-72CD-4737-8062-0ABA34FFEA37}" type="slidenum">
              <a:rPr lang="en-US" smtClean="0"/>
              <a:t>‹#›</a:t>
            </a:fld>
            <a:endParaRPr lang="en-US"/>
          </a:p>
        </p:txBody>
      </p:sp>
    </p:spTree>
    <p:extLst>
      <p:ext uri="{BB962C8B-B14F-4D97-AF65-F5344CB8AC3E}">
        <p14:creationId xmlns:p14="http://schemas.microsoft.com/office/powerpoint/2010/main" val="248530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AB54E-953E-CCA7-443F-78ADA57515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A34C8E-B9E8-0BBA-EA0A-0B596D6196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0F072-289F-7C73-13A0-E10FF37B3F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6BC3F1-8321-4782-A491-1925BD81ABC4}" type="datetimeFigureOut">
              <a:rPr lang="en-US" smtClean="0"/>
              <a:t>10/29/2023</a:t>
            </a:fld>
            <a:endParaRPr lang="en-US"/>
          </a:p>
        </p:txBody>
      </p:sp>
      <p:sp>
        <p:nvSpPr>
          <p:cNvPr id="5" name="Footer Placeholder 4">
            <a:extLst>
              <a:ext uri="{FF2B5EF4-FFF2-40B4-BE49-F238E27FC236}">
                <a16:creationId xmlns:a16="http://schemas.microsoft.com/office/drawing/2014/main" id="{AADF8908-475F-EB6F-08BD-F4AEB68E59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1D0FF81-EBBF-E93B-D178-1367306E6A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17CB86-72CD-4737-8062-0ABA34FFEA37}" type="slidenum">
              <a:rPr lang="en-US" smtClean="0"/>
              <a:t>‹#›</a:t>
            </a:fld>
            <a:endParaRPr lang="en-US"/>
          </a:p>
        </p:txBody>
      </p:sp>
    </p:spTree>
    <p:extLst>
      <p:ext uri="{BB962C8B-B14F-4D97-AF65-F5344CB8AC3E}">
        <p14:creationId xmlns:p14="http://schemas.microsoft.com/office/powerpoint/2010/main" val="2617233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00136-2549-5B1F-181A-117A3B649458}"/>
              </a:ext>
            </a:extLst>
          </p:cNvPr>
          <p:cNvSpPr>
            <a:spLocks noGrp="1"/>
          </p:cNvSpPr>
          <p:nvPr>
            <p:ph type="ctrTitle"/>
          </p:nvPr>
        </p:nvSpPr>
        <p:spPr/>
        <p:txBody>
          <a:bodyPr/>
          <a:lstStyle/>
          <a:p>
            <a:r>
              <a:rPr lang="en-US" b="1" dirty="0"/>
              <a:t>Networking Technologies - Assignment 2</a:t>
            </a:r>
          </a:p>
        </p:txBody>
      </p:sp>
      <p:sp>
        <p:nvSpPr>
          <p:cNvPr id="3" name="Subtitle 2">
            <a:extLst>
              <a:ext uri="{FF2B5EF4-FFF2-40B4-BE49-F238E27FC236}">
                <a16:creationId xmlns:a16="http://schemas.microsoft.com/office/drawing/2014/main" id="{D7B0EB04-BED8-899D-8EA2-5C7A6CE6EA31}"/>
              </a:ext>
            </a:extLst>
          </p:cNvPr>
          <p:cNvSpPr>
            <a:spLocks noGrp="1"/>
          </p:cNvSpPr>
          <p:nvPr>
            <p:ph type="subTitle" idx="1"/>
          </p:nvPr>
        </p:nvSpPr>
        <p:spPr>
          <a:xfrm>
            <a:off x="1393372" y="4255181"/>
            <a:ext cx="9144000" cy="1655762"/>
          </a:xfrm>
        </p:spPr>
        <p:txBody>
          <a:bodyPr/>
          <a:lstStyle/>
          <a:p>
            <a:r>
              <a:rPr lang="en-GB" dirty="0">
                <a:solidFill>
                  <a:schemeClr val="tx1">
                    <a:lumMod val="85000"/>
                    <a:lumOff val="15000"/>
                  </a:schemeClr>
                </a:solidFill>
                <a:latin typeface="Times New Roman" panose="02020603050405020304" pitchFamily="18" charset="0"/>
                <a:cs typeface="Times New Roman" panose="02020603050405020304" pitchFamily="18" charset="0"/>
              </a:rPr>
              <a:t>Name: Tahiatul Jannath Bhuiyan</a:t>
            </a:r>
          </a:p>
          <a:p>
            <a:r>
              <a:rPr lang="en-GB" dirty="0">
                <a:solidFill>
                  <a:schemeClr val="tx1">
                    <a:lumMod val="85000"/>
                    <a:lumOff val="15000"/>
                  </a:schemeClr>
                </a:solidFill>
                <a:latin typeface="Times New Roman" panose="02020603050405020304" pitchFamily="18" charset="0"/>
                <a:cs typeface="Times New Roman" panose="02020603050405020304" pitchFamily="18" charset="0"/>
              </a:rPr>
              <a:t>ID: </a:t>
            </a:r>
            <a:r>
              <a:rPr lang="en-US" b="0" i="0" dirty="0">
                <a:solidFill>
                  <a:schemeClr val="tx1">
                    <a:lumMod val="85000"/>
                    <a:lumOff val="15000"/>
                  </a:schemeClr>
                </a:solidFill>
                <a:effectLst/>
                <a:latin typeface="Times New Roman" panose="02020603050405020304" pitchFamily="18" charset="0"/>
                <a:cs typeface="Times New Roman" panose="02020603050405020304" pitchFamily="18" charset="0"/>
              </a:rPr>
              <a:t>10637997</a:t>
            </a:r>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71028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2CAA-CB55-D049-3EA2-A61025250B55}"/>
              </a:ext>
            </a:extLst>
          </p:cNvPr>
          <p:cNvSpPr>
            <a:spLocks noGrp="1"/>
          </p:cNvSpPr>
          <p:nvPr>
            <p:ph type="title"/>
          </p:nvPr>
        </p:nvSpPr>
        <p:spPr/>
        <p:txBody>
          <a:bodyPr/>
          <a:lstStyle/>
          <a:p>
            <a:r>
              <a:rPr lang="en-GB" b="1" dirty="0"/>
              <a:t>The link I’m using </a:t>
            </a:r>
            <a:endParaRPr lang="en-US" b="1" dirty="0"/>
          </a:p>
        </p:txBody>
      </p:sp>
      <p:sp>
        <p:nvSpPr>
          <p:cNvPr id="3" name="Content Placeholder 2">
            <a:extLst>
              <a:ext uri="{FF2B5EF4-FFF2-40B4-BE49-F238E27FC236}">
                <a16:creationId xmlns:a16="http://schemas.microsoft.com/office/drawing/2014/main" id="{FC8730AF-D39F-6BA3-9036-8CB07C6B864A}"/>
              </a:ext>
            </a:extLst>
          </p:cNvPr>
          <p:cNvSpPr>
            <a:spLocks noGrp="1"/>
          </p:cNvSpPr>
          <p:nvPr>
            <p:ph idx="1"/>
          </p:nvPr>
        </p:nvSpPr>
        <p:spPr/>
        <p:txBody>
          <a:bodyPr/>
          <a:lstStyle/>
          <a:p>
            <a:r>
              <a:rPr lang="en-US" dirty="0"/>
              <a:t>http://watin.sourceforge.net/</a:t>
            </a:r>
          </a:p>
        </p:txBody>
      </p:sp>
    </p:spTree>
    <p:extLst>
      <p:ext uri="{BB962C8B-B14F-4D97-AF65-F5344CB8AC3E}">
        <p14:creationId xmlns:p14="http://schemas.microsoft.com/office/powerpoint/2010/main" val="300322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5D71-944D-0AC3-7478-C9B5FB061ACB}"/>
              </a:ext>
            </a:extLst>
          </p:cNvPr>
          <p:cNvSpPr>
            <a:spLocks noGrp="1"/>
          </p:cNvSpPr>
          <p:nvPr>
            <p:ph type="title"/>
          </p:nvPr>
        </p:nvSpPr>
        <p:spPr/>
        <p:txBody>
          <a:bodyPr/>
          <a:lstStyle/>
          <a:p>
            <a:r>
              <a:rPr lang="en-US" b="1" dirty="0"/>
              <a:t>TCP handshake process</a:t>
            </a:r>
          </a:p>
        </p:txBody>
      </p:sp>
      <p:pic>
        <p:nvPicPr>
          <p:cNvPr id="1026" name="Picture 2" descr="TCP 3-Way Handshake Process. Transmission Control Protocol | by Kusal  Kaluarachchi | Medium">
            <a:extLst>
              <a:ext uri="{FF2B5EF4-FFF2-40B4-BE49-F238E27FC236}">
                <a16:creationId xmlns:a16="http://schemas.microsoft.com/office/drawing/2014/main" id="{AB4FAF47-D6D1-4C9F-2241-96FF51ED1C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56091" y="1880054"/>
            <a:ext cx="683073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240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16396-3D61-F5CC-19C0-853993B066FE}"/>
              </a:ext>
            </a:extLst>
          </p:cNvPr>
          <p:cNvSpPr>
            <a:spLocks noGrp="1"/>
          </p:cNvSpPr>
          <p:nvPr>
            <p:ph type="title"/>
          </p:nvPr>
        </p:nvSpPr>
        <p:spPr/>
        <p:txBody>
          <a:bodyPr/>
          <a:lstStyle/>
          <a:p>
            <a:r>
              <a:rPr lang="en-US" b="1" i="0" dirty="0">
                <a:solidFill>
                  <a:srgbClr val="0F0F0F"/>
                </a:solidFill>
                <a:effectLst/>
                <a:latin typeface="YouTube Sans"/>
              </a:rPr>
              <a:t>Header Length and Payload </a:t>
            </a:r>
            <a:r>
              <a:rPr lang="en-US" b="1" i="0" dirty="0" err="1">
                <a:solidFill>
                  <a:srgbClr val="0F0F0F"/>
                </a:solidFill>
                <a:effectLst/>
                <a:latin typeface="YouTube Sans"/>
              </a:rPr>
              <a:t>Calcultion</a:t>
            </a:r>
            <a:endParaRPr lang="en-US" dirty="0"/>
          </a:p>
        </p:txBody>
      </p:sp>
      <p:sp>
        <p:nvSpPr>
          <p:cNvPr id="3" name="Content Placeholder 2">
            <a:extLst>
              <a:ext uri="{FF2B5EF4-FFF2-40B4-BE49-F238E27FC236}">
                <a16:creationId xmlns:a16="http://schemas.microsoft.com/office/drawing/2014/main" id="{56B1BD73-F519-12A6-9206-22356DEBC9DF}"/>
              </a:ext>
            </a:extLst>
          </p:cNvPr>
          <p:cNvSpPr>
            <a:spLocks noGrp="1"/>
          </p:cNvSpPr>
          <p:nvPr>
            <p:ph idx="1"/>
          </p:nvPr>
        </p:nvSpPr>
        <p:spPr/>
        <p:txBody>
          <a:bodyPr/>
          <a:lstStyle/>
          <a:p>
            <a:r>
              <a:rPr lang="en-GB" dirty="0"/>
              <a:t>IP header length+ TCP header length+ payload = total length </a:t>
            </a:r>
          </a:p>
          <a:p>
            <a:endParaRPr lang="en-US" dirty="0"/>
          </a:p>
        </p:txBody>
      </p:sp>
    </p:spTree>
    <p:extLst>
      <p:ext uri="{BB962C8B-B14F-4D97-AF65-F5344CB8AC3E}">
        <p14:creationId xmlns:p14="http://schemas.microsoft.com/office/powerpoint/2010/main" val="2966721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2503D-60E1-B80E-B99C-09A073FC9C31}"/>
              </a:ext>
            </a:extLst>
          </p:cNvPr>
          <p:cNvSpPr>
            <a:spLocks noGrp="1"/>
          </p:cNvSpPr>
          <p:nvPr>
            <p:ph type="title"/>
          </p:nvPr>
        </p:nvSpPr>
        <p:spPr/>
        <p:txBody>
          <a:bodyPr/>
          <a:lstStyle/>
          <a:p>
            <a:endParaRPr lang="en-US"/>
          </a:p>
        </p:txBody>
      </p:sp>
      <p:pic>
        <p:nvPicPr>
          <p:cNvPr id="2050" name="Picture 2">
            <a:extLst>
              <a:ext uri="{FF2B5EF4-FFF2-40B4-BE49-F238E27FC236}">
                <a16:creationId xmlns:a16="http://schemas.microsoft.com/office/drawing/2014/main" id="{9C46CDDB-10F2-6F11-D9E3-514702B54F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70303"/>
            <a:ext cx="10515600" cy="4061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079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C011D-5D4B-6BEF-A934-6A9F00E00E86}"/>
              </a:ext>
            </a:extLst>
          </p:cNvPr>
          <p:cNvSpPr>
            <a:spLocks noGrp="1"/>
          </p:cNvSpPr>
          <p:nvPr>
            <p:ph type="title"/>
          </p:nvPr>
        </p:nvSpPr>
        <p:spPr/>
        <p:txBody>
          <a:bodyPr/>
          <a:lstStyle/>
          <a:p>
            <a:r>
              <a:rPr lang="en-GB" b="1" dirty="0"/>
              <a:t>variations in sequence numbers, acknowledge numbers and window size</a:t>
            </a:r>
            <a:endParaRPr lang="en-US" dirty="0"/>
          </a:p>
        </p:txBody>
      </p:sp>
      <p:sp>
        <p:nvSpPr>
          <p:cNvPr id="3" name="Content Placeholder 2">
            <a:extLst>
              <a:ext uri="{FF2B5EF4-FFF2-40B4-BE49-F238E27FC236}">
                <a16:creationId xmlns:a16="http://schemas.microsoft.com/office/drawing/2014/main" id="{0D6AC3F0-B6CA-6217-2EA9-0BA10C5CC057}"/>
              </a:ext>
            </a:extLst>
          </p:cNvPr>
          <p:cNvSpPr>
            <a:spLocks noGrp="1"/>
          </p:cNvSpPr>
          <p:nvPr>
            <p:ph idx="1"/>
          </p:nvPr>
        </p:nvSpPr>
        <p:spPr/>
        <p:txBody>
          <a:bodyPr>
            <a:normAutofit fontScale="85000" lnSpcReduction="20000"/>
          </a:bodyPr>
          <a:lstStyle/>
          <a:p>
            <a:r>
              <a:rPr lang="en-GB" b="1" dirty="0"/>
              <a:t>Sequence Numbers </a:t>
            </a:r>
            <a:r>
              <a:rPr lang="en-GB" dirty="0"/>
              <a:t>are used to maintain the order of </a:t>
            </a:r>
            <a:r>
              <a:rPr lang="en-GB" b="1" dirty="0"/>
              <a:t>transmitted data segments</a:t>
            </a:r>
          </a:p>
          <a:p>
            <a:r>
              <a:rPr lang="en-GB" dirty="0"/>
              <a:t> Sequence numbers are attached to the segments by the sender and help the receiver to reassemble the data in the </a:t>
            </a:r>
            <a:r>
              <a:rPr lang="en-GB" b="1" dirty="0"/>
              <a:t>correct order. </a:t>
            </a:r>
          </a:p>
          <a:p>
            <a:endParaRPr lang="en-GB" b="1" dirty="0"/>
          </a:p>
          <a:p>
            <a:r>
              <a:rPr lang="en-GB" b="1" dirty="0"/>
              <a:t>Acknowledgment Numbers </a:t>
            </a:r>
            <a:r>
              <a:rPr lang="en-GB" dirty="0"/>
              <a:t>indicate the sequence number of the </a:t>
            </a:r>
            <a:r>
              <a:rPr lang="en-GB" b="1" dirty="0"/>
              <a:t>next expected data byte. </a:t>
            </a:r>
            <a:r>
              <a:rPr lang="en-GB" dirty="0"/>
              <a:t>They are included in the TCP header of the acknowledgment segment sent by the </a:t>
            </a:r>
            <a:r>
              <a:rPr lang="en-GB" b="1" dirty="0"/>
              <a:t>receiver.</a:t>
            </a:r>
            <a:r>
              <a:rPr lang="en-GB" dirty="0"/>
              <a:t> Acknowledgment numbers inform the sender about the </a:t>
            </a:r>
            <a:r>
              <a:rPr lang="en-GB" b="1" dirty="0"/>
              <a:t>successful</a:t>
            </a:r>
            <a:r>
              <a:rPr lang="en-GB" dirty="0"/>
              <a:t> receipt of the data up to the acknowledged sequence number.</a:t>
            </a:r>
          </a:p>
          <a:p>
            <a:endParaRPr lang="en-GB" dirty="0"/>
          </a:p>
          <a:p>
            <a:r>
              <a:rPr lang="en-GB" b="1" dirty="0"/>
              <a:t>Window Size </a:t>
            </a:r>
            <a:r>
              <a:rPr lang="en-GB" dirty="0"/>
              <a:t>specifies the </a:t>
            </a:r>
            <a:r>
              <a:rPr lang="en-GB" b="1" dirty="0"/>
              <a:t>amount of data </a:t>
            </a:r>
            <a:r>
              <a:rPr lang="en-GB" dirty="0"/>
              <a:t>that can be sent before requiring an acknowledgment from the receiver. It plays a crucial role in flow control, allowing the sender </a:t>
            </a:r>
            <a:r>
              <a:rPr lang="en-GB" b="1" dirty="0"/>
              <a:t>to adjust </a:t>
            </a:r>
            <a:r>
              <a:rPr lang="en-GB" dirty="0"/>
              <a:t>the rate of data transmission based on the </a:t>
            </a:r>
            <a:r>
              <a:rPr lang="en-GB" b="1" dirty="0"/>
              <a:t>receiver's capacity </a:t>
            </a:r>
            <a:r>
              <a:rPr lang="en-GB" dirty="0"/>
              <a:t>to process data. </a:t>
            </a:r>
            <a:endParaRPr lang="en-US" dirty="0"/>
          </a:p>
        </p:txBody>
      </p:sp>
    </p:spTree>
    <p:extLst>
      <p:ext uri="{BB962C8B-B14F-4D97-AF65-F5344CB8AC3E}">
        <p14:creationId xmlns:p14="http://schemas.microsoft.com/office/powerpoint/2010/main" val="254788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C4DBB-A49E-9FFF-3DCC-2AA096B270E0}"/>
              </a:ext>
            </a:extLst>
          </p:cNvPr>
          <p:cNvSpPr>
            <a:spLocks noGrp="1"/>
          </p:cNvSpPr>
          <p:nvPr>
            <p:ph type="title"/>
          </p:nvPr>
        </p:nvSpPr>
        <p:spPr/>
        <p:txBody>
          <a:bodyPr/>
          <a:lstStyle/>
          <a:p>
            <a:r>
              <a:rPr lang="en-GB" b="1" dirty="0"/>
              <a:t>When Congestion happen</a:t>
            </a:r>
            <a:endParaRPr lang="en-US" b="1" dirty="0"/>
          </a:p>
        </p:txBody>
      </p:sp>
      <p:sp>
        <p:nvSpPr>
          <p:cNvPr id="3" name="Content Placeholder 2">
            <a:extLst>
              <a:ext uri="{FF2B5EF4-FFF2-40B4-BE49-F238E27FC236}">
                <a16:creationId xmlns:a16="http://schemas.microsoft.com/office/drawing/2014/main" id="{B878F585-B0F7-DE5B-DEEC-C20A362B27EA}"/>
              </a:ext>
            </a:extLst>
          </p:cNvPr>
          <p:cNvSpPr>
            <a:spLocks noGrp="1"/>
          </p:cNvSpPr>
          <p:nvPr>
            <p:ph idx="1"/>
          </p:nvPr>
        </p:nvSpPr>
        <p:spPr/>
        <p:txBody>
          <a:bodyPr/>
          <a:lstStyle/>
          <a:p>
            <a:r>
              <a:rPr lang="en-GB" dirty="0"/>
              <a:t>When the number of packet send by the sender is greater than the capacity of the network, and it create network traffic or blockage.</a:t>
            </a:r>
          </a:p>
          <a:p>
            <a:endParaRPr lang="en-US" dirty="0"/>
          </a:p>
        </p:txBody>
      </p:sp>
    </p:spTree>
    <p:extLst>
      <p:ext uri="{BB962C8B-B14F-4D97-AF65-F5344CB8AC3E}">
        <p14:creationId xmlns:p14="http://schemas.microsoft.com/office/powerpoint/2010/main" val="311705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25521-581A-27B6-7162-1BB107974F1C}"/>
              </a:ext>
            </a:extLst>
          </p:cNvPr>
          <p:cNvSpPr>
            <a:spLocks noGrp="1"/>
          </p:cNvSpPr>
          <p:nvPr>
            <p:ph type="title"/>
          </p:nvPr>
        </p:nvSpPr>
        <p:spPr/>
        <p:txBody>
          <a:bodyPr>
            <a:normAutofit/>
          </a:bodyPr>
          <a:lstStyle/>
          <a:p>
            <a:r>
              <a:rPr lang="en-GB" sz="3200" b="1" dirty="0"/>
              <a:t>3. Could we determine the expected acknowledge number for a packet with known sequence number and total length? How?</a:t>
            </a:r>
            <a:endParaRPr lang="en-US" sz="3200" b="1" dirty="0"/>
          </a:p>
        </p:txBody>
      </p:sp>
      <p:sp>
        <p:nvSpPr>
          <p:cNvPr id="3" name="Content Placeholder 2">
            <a:extLst>
              <a:ext uri="{FF2B5EF4-FFF2-40B4-BE49-F238E27FC236}">
                <a16:creationId xmlns:a16="http://schemas.microsoft.com/office/drawing/2014/main" id="{FB957BF9-1093-9C02-701A-9D38A3A5A49E}"/>
              </a:ext>
            </a:extLst>
          </p:cNvPr>
          <p:cNvSpPr>
            <a:spLocks noGrp="1"/>
          </p:cNvSpPr>
          <p:nvPr>
            <p:ph idx="1"/>
          </p:nvPr>
        </p:nvSpPr>
        <p:spPr/>
        <p:txBody>
          <a:bodyPr>
            <a:normAutofit fontScale="85000" lnSpcReduction="10000"/>
          </a:bodyPr>
          <a:lstStyle/>
          <a:p>
            <a:pPr algn="l"/>
            <a:r>
              <a:rPr lang="en-GB" b="0" i="0" dirty="0">
                <a:solidFill>
                  <a:srgbClr val="374151"/>
                </a:solidFill>
                <a:effectLst/>
                <a:latin typeface="Söhne"/>
              </a:rPr>
              <a:t>Yes, it is possible to determine the expected acknowledgment number for a packet with a known sequence number and total length in the context of TCP (Transmission Control Protocol) communication. The acknowledgment number in TCP is always the next sequence number that the receiver is expecting to receive. To determine the expected acknowledgment number:</a:t>
            </a:r>
          </a:p>
          <a:p>
            <a:pPr algn="l">
              <a:buFont typeface="+mj-lt"/>
              <a:buAutoNum type="arabicPeriod"/>
            </a:pPr>
            <a:r>
              <a:rPr lang="en-GB" b="1" i="0" dirty="0">
                <a:solidFill>
                  <a:srgbClr val="374151"/>
                </a:solidFill>
                <a:effectLst/>
                <a:latin typeface="Söhne"/>
              </a:rPr>
              <a:t>Known Sequence Number:</a:t>
            </a:r>
            <a:r>
              <a:rPr lang="en-GB" b="0" i="0" dirty="0">
                <a:solidFill>
                  <a:srgbClr val="374151"/>
                </a:solidFill>
                <a:effectLst/>
                <a:latin typeface="Söhne"/>
              </a:rPr>
              <a:t> Start with the known sequence number of the packet you are interested in.</a:t>
            </a:r>
          </a:p>
          <a:p>
            <a:pPr algn="l">
              <a:buFont typeface="+mj-lt"/>
              <a:buAutoNum type="arabicPeriod"/>
            </a:pPr>
            <a:r>
              <a:rPr lang="en-GB" b="1" i="0" dirty="0">
                <a:solidFill>
                  <a:srgbClr val="374151"/>
                </a:solidFill>
                <a:effectLst/>
                <a:latin typeface="Söhne"/>
              </a:rPr>
              <a:t>Total Length of the Packet:</a:t>
            </a:r>
            <a:r>
              <a:rPr lang="en-GB" b="0" i="0" dirty="0">
                <a:solidFill>
                  <a:srgbClr val="374151"/>
                </a:solidFill>
                <a:effectLst/>
                <a:latin typeface="Söhne"/>
              </a:rPr>
              <a:t> Determine the total length of the packet, including both the header and the data payload. This can be obtained from the TCP header's length field.</a:t>
            </a:r>
          </a:p>
          <a:p>
            <a:pPr algn="l">
              <a:buFont typeface="+mj-lt"/>
              <a:buAutoNum type="arabicPeriod"/>
            </a:pPr>
            <a:r>
              <a:rPr lang="en-GB" b="1" i="0" dirty="0">
                <a:solidFill>
                  <a:srgbClr val="374151"/>
                </a:solidFill>
                <a:effectLst/>
                <a:latin typeface="Söhne"/>
              </a:rPr>
              <a:t>Compute the Acknowledgment Number:</a:t>
            </a:r>
            <a:r>
              <a:rPr lang="en-GB" b="0" i="0" dirty="0">
                <a:solidFill>
                  <a:srgbClr val="374151"/>
                </a:solidFill>
                <a:effectLst/>
                <a:latin typeface="Söhne"/>
              </a:rPr>
              <a:t> Add the total length of the packet to the known sequence number. The result would be the acknowledgment number that the receiver is expecting after receiving the packet.</a:t>
            </a:r>
          </a:p>
          <a:p>
            <a:endParaRPr lang="en-US" dirty="0"/>
          </a:p>
        </p:txBody>
      </p:sp>
    </p:spTree>
    <p:extLst>
      <p:ext uri="{BB962C8B-B14F-4D97-AF65-F5344CB8AC3E}">
        <p14:creationId xmlns:p14="http://schemas.microsoft.com/office/powerpoint/2010/main" val="2389162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C5A6-19E7-8BC6-C34E-F36A69113244}"/>
              </a:ext>
            </a:extLst>
          </p:cNvPr>
          <p:cNvSpPr>
            <a:spLocks noGrp="1"/>
          </p:cNvSpPr>
          <p:nvPr>
            <p:ph type="title"/>
          </p:nvPr>
        </p:nvSpPr>
        <p:spPr/>
        <p:txBody>
          <a:bodyPr/>
          <a:lstStyle/>
          <a:p>
            <a:r>
              <a:rPr lang="en-GB" b="1" dirty="0"/>
              <a:t>If congestion happen </a:t>
            </a:r>
            <a:endParaRPr lang="en-US" b="1" dirty="0"/>
          </a:p>
        </p:txBody>
      </p:sp>
      <p:sp>
        <p:nvSpPr>
          <p:cNvPr id="3" name="Content Placeholder 2">
            <a:extLst>
              <a:ext uri="{FF2B5EF4-FFF2-40B4-BE49-F238E27FC236}">
                <a16:creationId xmlns:a16="http://schemas.microsoft.com/office/drawing/2014/main" id="{708BABC8-CF2E-E47A-29D8-C8B713C671BC}"/>
              </a:ext>
            </a:extLst>
          </p:cNvPr>
          <p:cNvSpPr>
            <a:spLocks noGrp="1"/>
          </p:cNvSpPr>
          <p:nvPr>
            <p:ph idx="1"/>
          </p:nvPr>
        </p:nvSpPr>
        <p:spPr/>
        <p:txBody>
          <a:bodyPr>
            <a:normAutofit/>
          </a:bodyPr>
          <a:lstStyle/>
          <a:p>
            <a:r>
              <a:rPr lang="en-GB" b="1" dirty="0"/>
              <a:t>Sequence Number</a:t>
            </a:r>
            <a:r>
              <a:rPr lang="en-GB" dirty="0"/>
              <a:t>: During network congestion, sequence numbers may still increase, but the rate of increment might become irregular or delayed. This behaviour can occur due to packet retransmissions, segment losses, or network delays caused by congestion. As a result, the sequence numbers might not be in consistent progression.</a:t>
            </a:r>
          </a:p>
          <a:p>
            <a:endParaRPr lang="en-GB" dirty="0"/>
          </a:p>
          <a:p>
            <a:r>
              <a:rPr lang="en-GB" b="1" dirty="0"/>
              <a:t>Window Size: </a:t>
            </a:r>
            <a:r>
              <a:rPr lang="en-GB" dirty="0"/>
              <a:t>During congestion, the window size is expected to decrease. This reduction in the window size serves as a congestion control mechanism to prevent the sender from overwhelming the network or the receiver with an excessive amount of data. </a:t>
            </a:r>
            <a:endParaRPr lang="en-US" dirty="0"/>
          </a:p>
        </p:txBody>
      </p:sp>
    </p:spTree>
    <p:extLst>
      <p:ext uri="{BB962C8B-B14F-4D97-AF65-F5344CB8AC3E}">
        <p14:creationId xmlns:p14="http://schemas.microsoft.com/office/powerpoint/2010/main" val="2390863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1346</TotalTime>
  <Words>488</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Söhne</vt:lpstr>
      <vt:lpstr>Times New Roman</vt:lpstr>
      <vt:lpstr>YouTube Sans</vt:lpstr>
      <vt:lpstr>Office Theme</vt:lpstr>
      <vt:lpstr>Networking Technologies - Assignment 2</vt:lpstr>
      <vt:lpstr>The link I’m using </vt:lpstr>
      <vt:lpstr>TCP handshake process</vt:lpstr>
      <vt:lpstr>Header Length and Payload Calcultion</vt:lpstr>
      <vt:lpstr>PowerPoint Presentation</vt:lpstr>
      <vt:lpstr>variations in sequence numbers, acknowledge numbers and window size</vt:lpstr>
      <vt:lpstr>When Congestion happen</vt:lpstr>
      <vt:lpstr>3. Could we determine the expected acknowledge number for a packet with known sequence number and total length? How?</vt:lpstr>
      <vt:lpstr>If congestion happen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 Technologies - Assignment 1 </dc:title>
  <dc:creator>tahiatul jannath</dc:creator>
  <cp:lastModifiedBy>Tahiatul Jannath Bhuiyan</cp:lastModifiedBy>
  <cp:revision>4</cp:revision>
  <dcterms:created xsi:type="dcterms:W3CDTF">2023-10-28T11:40:41Z</dcterms:created>
  <dcterms:modified xsi:type="dcterms:W3CDTF">2023-10-29T16:12:51Z</dcterms:modified>
</cp:coreProperties>
</file>